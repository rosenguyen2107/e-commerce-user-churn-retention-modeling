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0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6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549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deco_cov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832765"/>
            <a:ext cx="3678311" cy="58743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07218"/>
            <a:ext cx="605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STRATEGY  ·  BUSINESS ANALYTICS CASE STUDY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94360" y="1165859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won't </a:t>
            </a: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back, 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where retention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actually pays off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14707" y="2870475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churn-prediction and value-based targeting analysis of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232,079 shoppers across five months of a cosmetics store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94360" y="3758514"/>
            <a:ext cx="182880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14707" y="385283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8368" y="3200400"/>
            <a:ext cx="164592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approach</a:t>
            </a:r>
            <a:endParaRPr lang="en-US" sz="1350" dirty="0"/>
          </a:p>
        </p:txBody>
      </p:sp>
      <p:pic>
        <p:nvPicPr>
          <p:cNvPr id="8" name="Image 0" descr="img/deco_cover.png">
            <a:extLst>
              <a:ext uri="{FF2B5EF4-FFF2-40B4-BE49-F238E27FC236}">
                <a16:creationId xmlns:a16="http://schemas.microsoft.com/office/drawing/2014/main" id="{4FCB8BB0-0733-3677-C84B-D19A8D1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816289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BUSINESS CONTEXT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first-time shoppers never return, and 98% of the revenue at risk sits in just two segments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93392" cy="1645920"/>
          </a:xfrm>
          <a:prstGeom prst="roundRect">
            <a:avLst>
              <a:gd name="adj" fmla="val 4444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6072" y="246888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October shoppers do not return within 60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87752" y="1600200"/>
            <a:ext cx="1993392" cy="1645920"/>
          </a:xfrm>
          <a:prstGeom prst="roundRect">
            <a:avLst>
              <a:gd name="adj" fmla="val 4444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87752" y="17830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06624" y="246888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churn model, beating a recency-only rule (0.74)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18304" y="1600200"/>
            <a:ext cx="1993392" cy="1645920"/>
          </a:xfrm>
          <a:prstGeom prst="roundRect">
            <a:avLst>
              <a:gd name="adj" fmla="val 4444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18304" y="17830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$572k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37176" y="246888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60-day revenue at risk - 70% in one segment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48856" y="1600200"/>
            <a:ext cx="1993392" cy="1645920"/>
          </a:xfrm>
          <a:prstGeom prst="roundRect">
            <a:avLst>
              <a:gd name="adj" fmla="val 4444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48856" y="1783080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967728" y="246888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per $1 defended under value-first targeting, vs $99 churn-first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shift retention budget from the highest-churn segment to the highest revenue-at-risk segment, and act on early week-one behaviour before customers are gone.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BUSINESS CONTEXT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browse-heavy store, value comes from repeat visits - yet three in four shoppers vanish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465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1610497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cosmetics store where low-ticket, impulse purchases mean revenue depends on customers coming back, not on any single order.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82549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0" y="271119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October-active users never return in the next 60 days. Retention, not acquisition, is the binding constraint.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58184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39044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3E64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3774413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not return? Which early behaviors predict that? And where should retention budget be spent?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E99BAD55-6A69-9CC9-761F-704EF3FDFF34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BUSINESS CONTEXT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APPROACH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leakage-free model built and validated to withstand scrutiny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92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232k users · 5 months of view / cart / purchase events; October behaviour, Nov–Dec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7922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Leakage-free label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from October only; churn measured from a disjoint future window - recency can't leak the 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logistic regression benchmarked against gradient boosting for the predictive ceiling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92040" y="3209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35661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(±0.001), naive baselines, permutation importance, calibration check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861067AA-70BB-E501-0AB3-F566E65C8E0F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Diagnostics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8368" y="3200400"/>
            <a:ext cx="164592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behaviour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analysis</a:t>
            </a:r>
            <a:endParaRPr lang="en-US" sz="1350" dirty="0"/>
          </a:p>
        </p:txBody>
      </p:sp>
      <p:pic>
        <p:nvPicPr>
          <p:cNvPr id="7" name="Image 0" descr="img/deco_cover.png">
            <a:extLst>
              <a:ext uri="{FF2B5EF4-FFF2-40B4-BE49-F238E27FC236}">
                <a16:creationId xmlns:a16="http://schemas.microsoft.com/office/drawing/2014/main" id="{B78BBABC-AEFB-6A18-6EAA-DAC46BC8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816289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BUSINESS DIAGNOSTICS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BEHAVIOUR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high-volume, low-ticket, browse-heavy store</a:t>
            </a:r>
            <a:endParaRPr lang="en-US" sz="2400" dirty="0"/>
          </a:p>
        </p:txBody>
      </p:sp>
      <p:pic>
        <p:nvPicPr>
          <p:cNvPr id="6" name="Image 0" descr="img/event_m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644" y="1709928"/>
            <a:ext cx="5355686" cy="2674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40" y="1645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806440" y="19842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interactions from 232,079 shoppers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06440" y="239572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$4.11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806440" y="273405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item price - impulse-priced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06440" y="314553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25,755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806440" y="348386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Buyers; median buyer spend $32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06440" y="38953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session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5806440" y="42336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median user - mostly one-and-done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D7F5D3-7175-AA3A-B4E8-909E225504D4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BUSINESS DIAGNOSTICS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 of viewers add to cart - but only 1 in 5 carts convert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016752" y="1645920"/>
            <a:ext cx="25054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leak is
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 drop from intent to purchased is the biggest single leak in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funnel: a large share of shoppers add products to the cart but never complete a purchase. 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5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cart-stage recovery mechanism has the largest surface area to lift returns and revenue.</a:t>
            </a:r>
          </a:p>
        </p:txBody>
      </p:sp>
      <p:sp>
        <p:nvSpPr>
          <p:cNvPr id="9" name="Shape 6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5770F089-D1B8-5B17-E04F-2C2B3A56DB28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E448E4-73A0-E54A-B7AC-E71F78E4D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8" y="1673353"/>
            <a:ext cx="5374331" cy="25856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A63E99-DBB2-088E-FE8F-F627997AC96E}"/>
              </a:ext>
            </a:extLst>
          </p:cNvPr>
          <p:cNvSpPr txBox="1"/>
          <p:nvPr/>
        </p:nvSpPr>
        <p:spPr>
          <a:xfrm>
            <a:off x="2912076" y="2287057"/>
            <a:ext cx="576648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>
                <a:solidFill>
                  <a:schemeClr val="bg1"/>
                </a:solidFill>
              </a:rPr>
              <a:t>100%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6A2C04-8C13-8F3B-3324-851136CBAA64}"/>
              </a:ext>
            </a:extLst>
          </p:cNvPr>
          <p:cNvSpPr txBox="1"/>
          <p:nvPr/>
        </p:nvSpPr>
        <p:spPr>
          <a:xfrm>
            <a:off x="2005914" y="2948820"/>
            <a:ext cx="51237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>
                <a:solidFill>
                  <a:schemeClr val="bg1"/>
                </a:solidFill>
              </a:rPr>
              <a:t>58%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8503B-9E98-B208-4EE8-B7ED6D8B6A1B}"/>
              </a:ext>
            </a:extLst>
          </p:cNvPr>
          <p:cNvSpPr txBox="1"/>
          <p:nvPr/>
        </p:nvSpPr>
        <p:spPr>
          <a:xfrm>
            <a:off x="1066801" y="3609904"/>
            <a:ext cx="939113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>
                <a:solidFill>
                  <a:schemeClr val="bg1"/>
                </a:solidFill>
              </a:rPr>
              <a:t>12%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BUSINESS DIAGNOSTICS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users never form a habit - retention collapses right after the first visit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for the median user, most shoppers appear once and leave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27832" y="16916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7832" y="192024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0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410712" y="26060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where the cohort curve falls off a cliff, few return the next week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98464" y="1691640"/>
            <a:ext cx="2679192" cy="1737360"/>
          </a:xfrm>
          <a:prstGeom prst="roundRect">
            <a:avLst>
              <a:gd name="adj" fmla="val 4211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98464" y="192024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6181344" y="26060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(multiple sessions, more active days) is the strongest protective signal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must be predicted from week-1 behaviour. By the time inactivity is visible, the customer is already gone, which is also why a naive 30-day-inactivity label leaks.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E86C620-D4C7-8757-84D1-285A2D2A2D0A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8368" y="3200400"/>
            <a:ext cx="164592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291841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customer churn?</a:t>
            </a:r>
            <a:endParaRPr lang="en-US" sz="1350" dirty="0"/>
          </a:p>
        </p:txBody>
      </p:sp>
      <p:pic>
        <p:nvPicPr>
          <p:cNvPr id="7" name="Image 0" descr="img/deco_cover.png">
            <a:extLst>
              <a:ext uri="{FF2B5EF4-FFF2-40B4-BE49-F238E27FC236}">
                <a16:creationId xmlns:a16="http://schemas.microsoft.com/office/drawing/2014/main" id="{6787A6BA-ED1A-662F-61D7-6F996365A1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807411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PREDICTIVE ANALYTICS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CHURN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behavioral model predicts non-return at ROC-AUC 0.82, clearly beating recency alone</a:t>
            </a:r>
            <a:endParaRPr lang="en-US" sz="2400" dirty="0"/>
          </a:p>
        </p:txBody>
      </p:sp>
      <p:pic>
        <p:nvPicPr>
          <p:cNvPr id="6" name="Image 0" descr="img/model_bas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1" y="1517904"/>
            <a:ext cx="4874004" cy="30586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6439" y="1920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
</a:t>
            </a:r>
            <a:endParaRPr lang="en-US" sz="16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alone delivers strong predictive performance (ROC-AUC = 0.74). Adding customer behavior features further improves performance to 0.80-0.82. Because non-return accounts for 77% of customers, ROC-AUC and the improvement over the 0.50 baseline provide a more reliable measure of model performance than PR-AUC.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200" dirty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8529F3CC-2BCA-6E98-1EEC-0209E625A73E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 · PREDICTIVE ANALYTICS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CUSTOMER CHURN?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early signals separate returners from churners</a:t>
            </a:r>
            <a:endParaRPr lang="en-US" sz="2400" dirty="0"/>
          </a:p>
        </p:txBody>
      </p:sp>
      <p:pic>
        <p:nvPicPr>
          <p:cNvPr id="6" name="Image 0" descr="img/driver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517904"/>
            <a:ext cx="5351895" cy="2962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09094" y="192024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
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within October is the top risk signal, category breadth and active days are are associated with lower non-return risk, and both models agree, above their error bars. Shoppers who explore broadly and return across days are far likelier to stay.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08719B13-E7EF-B30F-3467-AB8BBBAC1549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Strategy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8368" y="3200400"/>
            <a:ext cx="164592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actually at risk?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targeting strategy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350" dirty="0"/>
          </a:p>
        </p:txBody>
      </p:sp>
      <p:pic>
        <p:nvPicPr>
          <p:cNvPr id="7" name="Image 0" descr="img/deco_cover.png">
            <a:extLst>
              <a:ext uri="{FF2B5EF4-FFF2-40B4-BE49-F238E27FC236}">
                <a16:creationId xmlns:a16="http://schemas.microsoft.com/office/drawing/2014/main" id="{92F35CD6-C553-9027-92EB-57091CDF3C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807411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BUSINESS STRATEGY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ACTUALLY AT RISK?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misleads: 98% of the $572k at risk sits in just two segments</a:t>
            </a:r>
            <a:endParaRPr lang="en-US" sz="2400" dirty="0"/>
          </a:p>
        </p:txBody>
      </p:sp>
      <p:pic>
        <p:nvPicPr>
          <p:cNvPr id="6" name="Image 0" descr="img/revenue_at_risk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555628"/>
            <a:ext cx="5348797" cy="2847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1836476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$400k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with </a:t>
            </a:r>
            <a:r>
              <a:rPr lang="en-US" sz="12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repeat buyers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more than the other five segments combined. Champions add $162k. The 91%-churn stale segment carries just $3k.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A60F90EE-F4C0-3BB6-0A14-5376FA838F8B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BUSINESS STRATEGY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TARGETING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a user only when churn probability × incremental uplift × value exceeds contact cost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produces well-calibrated probabilities (Brier Score = 0.129), making its predictions reliable for business decisions. Customers are contacted only when their expected value exceeds the intervention cost (break-even: $22.50). This ensures marketing resources are focused on high-value, at-risk customers while avoiding unnecessary outreach to low-value segments.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79192" cy="1554480"/>
          </a:xfrm>
          <a:prstGeom prst="roundRect">
            <a:avLst>
              <a:gd name="adj" fmla="val 4706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users selected - a focused, fundable campaign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2514600"/>
            <a:ext cx="2679192" cy="1554480"/>
          </a:xfrm>
          <a:prstGeom prst="roundRect">
            <a:avLst>
              <a:gd name="adj" fmla="val 4706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27832" y="269748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$81 vs $2.56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10712" y="3291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Oct spend of targeted vs non-targeted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98464" y="2514600"/>
            <a:ext cx="2679192" cy="1554480"/>
          </a:xfrm>
          <a:prstGeom prst="roundRect">
            <a:avLst>
              <a:gd name="adj" fmla="val 4706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98464" y="2697480"/>
            <a:ext cx="2679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 / 22%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81344" y="3291840"/>
            <a:ext cx="2313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100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repeat buyers and champions targeted, 0% of stale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9265667-E64D-56DA-5DFF-2440646F5BCF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· BUSINESS STRATEGY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Value-first targeting defends $1 of revenue for 5 cents; churn-first pays $99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77640" cy="2555880"/>
          </a:xfrm>
          <a:prstGeom prst="roundRect">
            <a:avLst>
              <a:gd name="adj" fmla="val 2759"/>
            </a:avLst>
          </a:prstGeom>
          <a:solidFill>
            <a:srgbClr val="F3F4F6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Churn-first (naive)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whole 91%-churn stale segment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contacted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111,339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spend / cycle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889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$301k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addressed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cost per $1 of at-risk revenue addressed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8892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$98.8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1570284"/>
            <a:ext cx="3977640" cy="2555880"/>
          </a:xfrm>
          <a:prstGeom prst="roundRect">
            <a:avLst>
              <a:gd name="adj" fmla="val 2759"/>
            </a:avLst>
          </a:prstGeom>
          <a:solidFill>
            <a:srgbClr val="FDEBD9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Value-first (recommended)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only users with positive expected value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542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contacted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~7,960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spend / cycle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9204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addressed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3101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 segment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6941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F2937"/>
                </a:solidFill>
                <a:latin typeface="Calibri" pitchFamily="34" charset="0"/>
                <a:cs typeface="Calibri" pitchFamily="34" charset="-120"/>
              </a:rPr>
              <a:t>Campaign cost per $1 of at-risk revenue addressed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3694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2746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profit ≈ $21k per 60-day cycle at full user base under illustrative economics ($2.70/contact, 12% uplift). A fixed 15% budget rule tests negative (−$29k) at the same scale: only 3.4% of users clear the break-even, so the quota forces ~8,000 additional contacts below it, each destroying about $1.87, so the EV&gt;0 rule is retained. Dollar inputs are assumptions to tune against real campaign costs.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2EDAA652-5EDD-EA07-2152-AFF429C3731B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3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8368" y="3200400"/>
            <a:ext cx="164592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3401568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350" dirty="0"/>
          </a:p>
        </p:txBody>
      </p:sp>
      <p:pic>
        <p:nvPicPr>
          <p:cNvPr id="7" name="Image 0" descr="img/deco_cover.png">
            <a:extLst>
              <a:ext uri="{FF2B5EF4-FFF2-40B4-BE49-F238E27FC236}">
                <a16:creationId xmlns:a16="http://schemas.microsoft.com/office/drawing/2014/main" id="{97E7E20F-E316-6254-E33E-EBA33D75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787634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IMPLEMENTATION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levers, sequenced by return on effort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679192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48-hour cart-abandonment nudge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largest funnel leak while intent is warm.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cart→purchase, 60-day return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645920"/>
            <a:ext cx="2679192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6432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56432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Early-activation onboarding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56432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week-1 depth for shallow, single-session users.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sessions/user, week-1→2 retention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98464" y="1645920"/>
            <a:ext cx="2679192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7064" y="18288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8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2706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win-back program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27064" y="31089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~$400k at-risk repeat-buyer segment first.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27064" y="3730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churn in high-value tier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ED6BCC8-8DD6-8A77-C794-AF7A5E9167BD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IMPLEMENTATION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money in three phases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615184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risk score to CRM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cart-nudge A/B on the $400k segment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dashboards: return rate, cart→purchase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58368" y="3913632"/>
            <a:ext cx="2286000" cy="0"/>
          </a:xfrm>
          <a:prstGeom prst="line">
            <a:avLst/>
          </a:prstGeom>
          <a:noFill/>
          <a:ln w="12700">
            <a:solidFill>
              <a:srgbClr val="3E6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9684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A/B live · risk score in CRM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27832" y="160020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DCE8F5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429000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615184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out A/B; roll out winning nudge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early-activation onboarding flow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EV&gt;0 value-first targeting into campaigns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429000" y="3913632"/>
            <a:ext cx="2286000" cy="0"/>
          </a:xfrm>
          <a:prstGeom prst="line">
            <a:avLst/>
          </a:prstGeom>
          <a:noFill/>
          <a:ln w="12700">
            <a:solidFill>
              <a:srgbClr val="3E64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39684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+3pp 60-day return; +5pp cart→purchase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98464" y="1600200"/>
            <a:ext cx="2679192" cy="2880360"/>
          </a:xfrm>
          <a:prstGeom prst="roundRect">
            <a:avLst>
              <a:gd name="adj" fmla="val 2730"/>
            </a:avLst>
          </a:prstGeom>
          <a:solidFill>
            <a:srgbClr val="FDEBD9"/>
          </a:solidFill>
          <a:ln/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9963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99632" y="1965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Institutionalise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99632" y="2322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9632" y="2615184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model retrain + drift monitoring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FontTx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Quasi-experimental causal read (propensity-score matching / difference-in-differences)</a:t>
            </a:r>
            <a:endParaRPr lang="en-US" sz="98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label windows; upgrade spend to CLV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199632" y="3913632"/>
            <a:ext cx="2286000" cy="0"/>
          </a:xfrm>
          <a:prstGeom prst="line">
            <a:avLst/>
          </a:prstGeom>
          <a:noFill/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9632" y="39684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stable AUC ≥0.80; +$20k / cycle profit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scale: A/B shows ≥3pp lift in 60-day return at 95% confidence, with flat opt-out and revenue guardrails.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3B077ADB-6C6D-7814-DA22-0EC1FA45FD48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IMPLEMENTATION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before scaling: a powered, guardrailed A/B test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4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7373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48-hour cart-abandonment nudge lifts the 60-day return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587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4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25603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randomised 50/50; two-proportion z-test on return rate with a 95% CI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3410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4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3383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a 3pp lift at 80% power from the 22.9% baseline return rate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7E6"/>
            </a:solidFill>
            <a:prstDash val="solid"/>
          </a:ln>
          <a:effectLst>
            <a:outerShdw blurRad="114300" dist="38100" dir="5400000" algn="bl" rotWithShape="0">
              <a:srgbClr val="AEB9C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233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E64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88920" y="4206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opt-out and revenue/user; fixed sample size - no peeking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3A15A56-24E4-1A9A-AF75-115FD27D10E4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36C1859-6727-B284-D3B7-E6819BE44911}"/>
              </a:ext>
            </a:extLst>
          </p:cNvPr>
          <p:cNvSpPr/>
          <p:nvPr/>
        </p:nvSpPr>
        <p:spPr>
          <a:xfrm>
            <a:off x="457200" y="12435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dataset is observational - this is a validated experimental design, not a completed A/B test.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0" y="256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V · IMPLEMENTATION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8522208" y="301752"/>
            <a:ext cx="82296" cy="82296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is - and is not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8130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“Churn” means non-return, not subscription cancellation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demographics or marketing channel - product/UX levers only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Nov-Dec label overlaps Black Friday, so churn is a lower bound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targeting inputs are illustrative assumptions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00600" y="1408176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F27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cart-nudge A/B test on the priority segment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calibrated risk scores for live targeting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cohort view across all five months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causal lift with matching / difference-in-differences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39328" y="4873752"/>
            <a:ext cx="64008" cy="64008"/>
          </a:xfrm>
          <a:prstGeom prst="ellipse">
            <a:avLst/>
          </a:prstGeom>
          <a:solidFill>
            <a:srgbClr val="F582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49056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F27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1" name="Text 17">
            <a:extLst>
              <a:ext uri="{FF2B5EF4-FFF2-40B4-BE49-F238E27FC236}">
                <a16:creationId xmlns:a16="http://schemas.microsoft.com/office/drawing/2014/main" id="{5C8FC9B3-4DE9-724B-928C-FFD3F5356C7A}"/>
              </a:ext>
            </a:extLst>
          </p:cNvPr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47103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21945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non-return early, then spend where revenue is at risk, not where churn is highest.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58368" y="3977640"/>
            <a:ext cx="1828800" cy="0"/>
          </a:xfrm>
          <a:prstGeom prst="line">
            <a:avLst/>
          </a:prstGeom>
          <a:noFill/>
          <a:ln w="317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Nguyen  ·  Customer Retention Strategy</a:t>
            </a:r>
            <a:endParaRPr lang="en-US" sz="1150" dirty="0"/>
          </a:p>
        </p:txBody>
      </p:sp>
      <p:pic>
        <p:nvPicPr>
          <p:cNvPr id="7" name="Image 0" descr="img/deco_cover.png">
            <a:extLst>
              <a:ext uri="{FF2B5EF4-FFF2-40B4-BE49-F238E27FC236}">
                <a16:creationId xmlns:a16="http://schemas.microsoft.com/office/drawing/2014/main" id="{2CFF4A16-D2E4-31F8-E2CF-CAC35DF2C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28961" y="-787634"/>
            <a:ext cx="3678311" cy="5874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1129</TotalTime>
  <Words>1683</Words>
  <Application>Microsoft Macintosh PowerPoint</Application>
  <PresentationFormat>On-screen Show (16:9)</PresentationFormat>
  <Paragraphs>265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Cosmetics Churn &amp; Retention</dc:title>
  <dc:subject>PptxGenJS Presentation</dc:subject>
  <dc:creator>Rose Nguyen</dc:creator>
  <cp:lastModifiedBy>Nguyen, Rose</cp:lastModifiedBy>
  <cp:revision>12</cp:revision>
  <dcterms:created xsi:type="dcterms:W3CDTF">2026-07-11T19:21:43Z</dcterms:created>
  <dcterms:modified xsi:type="dcterms:W3CDTF">2026-07-26T17:18:11Z</dcterms:modified>
</cp:coreProperties>
</file>